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dzaidddd2005-tech/AI-Based-Traffic-Management-System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781616" y="52673"/>
            <a:ext cx="391648" cy="65921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3968318" y="5408821"/>
            <a:ext cx="434440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1660123" y="6032078"/>
            <a:ext cx="9899417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400" b="1">
                <a:solidFill>
                  <a:srgbClr val="000000"/>
                </a:solidFill>
                <a:latin typeface="Arial"/>
              </a:rPr>
              <a:t>AI-POWERED TRAFFIC MANAGEMENT SYSTEM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sz="1600" b="1">
                <a:solidFill>
                  <a:srgbClr val="1F3F67"/>
                </a:solidFill>
                <a:latin typeface="Arial"/>
              </a:rPr>
              <a:t>Project ID: PRJ_555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1800" b="1">
                <a:solidFill>
                  <a:srgbClr val="1F3F67"/>
                </a:solidFill>
                <a:latin typeface="Arial"/>
              </a:defRPr>
            </a:pPr>
            <a: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defRPr sz="600" b="0">
                <a:solidFill>
                  <a:srgbClr val="1F3F67"/>
                </a:solidFill>
                <a:latin typeface="Arial"/>
              </a:defRPr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defRPr sz="1700" b="1">
                <a:solidFill>
                  <a:srgbClr val="1F3F67"/>
                </a:solidFill>
                <a:latin typeface="Arial"/>
              </a:defRPr>
            </a:pPr>
            <a:r>
              <a:t>Thummalapalli Lakshmi Vara Prasad</a:t>
            </a:r>
          </a:p>
          <a:p>
            <a:pPr algn="ctr">
              <a:defRPr sz="1500" b="1">
                <a:solidFill>
                  <a:srgbClr val="1F3F67"/>
                </a:solidFill>
                <a:latin typeface="Arial"/>
              </a:defRPr>
            </a:pPr>
            <a:r>
              <a:t>School of Computer Science and Engineering</a:t>
            </a:r>
          </a:p>
          <a:p>
            <a:pPr algn="ctr">
              <a:defRPr sz="1500" b="1">
                <a:solidFill>
                  <a:srgbClr val="1F3F67"/>
                </a:solidFill>
                <a:latin typeface="Arial"/>
              </a:defRPr>
            </a:pPr>
            <a:r>
              <a:t>Presidency University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  <a:defRPr sz="1600" b="1">
                <a:solidFill>
                  <a:srgbClr val="4678B4"/>
                </a:solidFill>
                <a:latin typeface="Arial"/>
              </a:defRPr>
            </a:pPr>
            <a:r>
              <a:t>Name of the Program: Computer Engineering</a:t>
            </a:r>
          </a:p>
          <a:p>
            <a:pPr>
              <a:spcAft>
                <a:spcPts val="0"/>
              </a:spcAft>
              <a:defRPr sz="1600" b="1">
                <a:solidFill>
                  <a:srgbClr val="4678B4"/>
                </a:solidFill>
                <a:latin typeface="Arial"/>
              </a:defRPr>
            </a:pPr>
            <a:r>
              <a:t>Name of the HoD: Dr. Gopalkrishna Shyam</a:t>
            </a:r>
          </a:p>
          <a:p>
            <a:pPr>
              <a:spcAft>
                <a:spcPts val="0"/>
              </a:spcAft>
              <a:defRPr sz="1600" b="1">
                <a:solidFill>
                  <a:srgbClr val="4678B4"/>
                </a:solidFill>
                <a:latin typeface="Arial"/>
              </a:defRPr>
            </a:pPr>
            <a:r>
              <a:t>Name of the Program Project Coordinator: Ms. Sumita Guddin</a:t>
            </a:r>
          </a:p>
          <a:p>
            <a:pPr>
              <a:spcAft>
                <a:spcPts val="0"/>
              </a:spcAft>
              <a:defRPr sz="1600" b="1">
                <a:solidFill>
                  <a:srgbClr val="4678B4"/>
                </a:solidFill>
                <a:latin typeface="Arial"/>
              </a:defRPr>
            </a:pPr>
            <a:r>
              <a:t>Name of the School Project Coordinators: Mr. Muthuraju V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latin typeface="Arial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latin typeface="Arial"/>
                        </a:rP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latin typeface="Arial"/>
                        </a:rPr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Mohammed Zaid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20231COM0024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Syed Mohammed Rabi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20231COM0081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N Kushal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latin typeface="Arial"/>
                        </a:rPr>
                        <a:t>20231COM0018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sz="1600" b="1">
                <a:solidFill>
                  <a:srgbClr val="1F3F67"/>
                </a:solidFill>
                <a:latin typeface="Arial"/>
              </a:rPr>
              <a:t>Panel No: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Problem statement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Objectives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Literature/research understanding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Methodology and architecture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Implementation progress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Individual contribution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200" b="1">
                <a:solidFill>
                  <a:srgbClr val="1F3F67"/>
                </a:solidFill>
                <a:latin typeface="Arial"/>
              </a:rPr>
              <a:t>Problem Statement – AI-Based Traffic Management System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>
              <a:buNone/>
              <a:defRPr sz="1450">
                <a:latin typeface="Arial"/>
              </a:defRPr>
            </a:pPr>
            <a:r>
              <a:rPr sz="1500" dirty="0" smtClean="0">
                <a:latin typeface="+mn-lt"/>
              </a:rPr>
              <a:t>Urban </a:t>
            </a:r>
            <a:r>
              <a:rPr sz="1500" dirty="0">
                <a:latin typeface="+mn-lt"/>
              </a:rPr>
              <a:t>areas are facing increasing traffic congestion due to the rapid growth in the number of vehicles, limited </a:t>
            </a:r>
            <a:r>
              <a:rPr sz="1500" dirty="0" err="1" smtClean="0">
                <a:latin typeface="+mn-lt"/>
              </a:rPr>
              <a:t>roa</a:t>
            </a:r>
            <a:endParaRPr lang="en-US" sz="1500" dirty="0" smtClean="0">
              <a:latin typeface="+mn-lt"/>
            </a:endParaRPr>
          </a:p>
          <a:p>
            <a:pPr marL="342900" lvl="0" indent="-190500">
              <a:buNone/>
              <a:defRPr sz="1450">
                <a:latin typeface="Arial"/>
              </a:defRPr>
            </a:pPr>
            <a:r>
              <a:rPr sz="1500" dirty="0" smtClean="0">
                <a:latin typeface="+mn-lt"/>
              </a:rPr>
              <a:t>capacity</a:t>
            </a:r>
            <a:r>
              <a:rPr sz="1500" dirty="0">
                <a:latin typeface="+mn-lt"/>
              </a:rPr>
              <a:t>, accidents, inefficient traffic signal timing, and unpredictable traffic patterns. Traditional traffic </a:t>
            </a:r>
            <a:r>
              <a:rPr sz="1500" dirty="0" smtClean="0">
                <a:latin typeface="+mn-lt"/>
              </a:rPr>
              <a:t>management</a:t>
            </a:r>
            <a:endParaRPr lang="en-US" sz="1500" dirty="0" smtClean="0">
              <a:latin typeface="+mn-lt"/>
            </a:endParaRPr>
          </a:p>
          <a:p>
            <a:pPr marL="342900" lvl="0" indent="-190500">
              <a:buNone/>
              <a:defRPr sz="1450">
                <a:latin typeface="Arial"/>
              </a:defRPr>
            </a:pPr>
            <a:r>
              <a:rPr sz="1500" dirty="0" smtClean="0">
                <a:latin typeface="+mn-lt"/>
              </a:rPr>
              <a:t>systems </a:t>
            </a:r>
            <a:r>
              <a:rPr sz="1500" dirty="0">
                <a:latin typeface="+mn-lt"/>
              </a:rPr>
              <a:t>generally operate using fixed-time traffic signals, which do not dynamically respond to real-time traffic </a:t>
            </a:r>
            <a:r>
              <a:rPr sz="1500" dirty="0" smtClean="0">
                <a:latin typeface="+mn-lt"/>
              </a:rPr>
              <a:t>conditions.</a:t>
            </a:r>
            <a:endParaRPr lang="en-US" sz="1500" dirty="0">
              <a:latin typeface="+mn-lt"/>
            </a:endParaRPr>
          </a:p>
          <a:p>
            <a:pPr marL="342900" lvl="0" indent="-190500">
              <a:buNone/>
              <a:defRPr sz="1450">
                <a:latin typeface="Arial"/>
              </a:defRPr>
            </a:pPr>
            <a:r>
              <a:rPr sz="1500" dirty="0" smtClean="0">
                <a:latin typeface="+mn-lt"/>
              </a:rPr>
              <a:t>This </a:t>
            </a:r>
            <a:r>
              <a:rPr sz="1500" dirty="0">
                <a:latin typeface="+mn-lt"/>
              </a:rPr>
              <a:t>can result in unnecessary waiting times, fuel consumption, air pollution, and delays for emergency vehicles.</a:t>
            </a:r>
          </a:p>
          <a:p>
            <a:pPr>
              <a:buNone/>
              <a:defRPr sz="1450">
                <a:latin typeface="Arial"/>
              </a:defRPr>
            </a:pPr>
            <a:r>
              <a:rPr lang="en-US" sz="1500" dirty="0" smtClean="0">
                <a:latin typeface="+mn-lt"/>
              </a:rPr>
              <a:t>      </a:t>
            </a:r>
          </a:p>
          <a:p>
            <a:pPr>
              <a:buNone/>
              <a:defRPr sz="1450">
                <a:latin typeface="Arial"/>
              </a:defRPr>
            </a:pPr>
            <a:r>
              <a:rPr lang="en-US" sz="1500" dirty="0">
                <a:latin typeface="+mn-lt"/>
              </a:rPr>
              <a:t> </a:t>
            </a:r>
            <a:r>
              <a:rPr lang="en-US" sz="1500" dirty="0" smtClean="0">
                <a:latin typeface="+mn-lt"/>
              </a:rPr>
              <a:t>     </a:t>
            </a:r>
          </a:p>
          <a:p>
            <a:pPr>
              <a:buNone/>
              <a:defRPr sz="1450">
                <a:latin typeface="Arial"/>
              </a:defRPr>
            </a:pPr>
            <a:r>
              <a:rPr dirty="0" smtClean="0">
                <a:latin typeface="+mn-lt"/>
              </a:rPr>
              <a:t>The </a:t>
            </a:r>
            <a:r>
              <a:rPr dirty="0">
                <a:latin typeface="+mn-lt"/>
              </a:rPr>
              <a:t>AI-Based Traffic Management System aims to address these problems by using Artificial Intelligence </a:t>
            </a:r>
            <a:r>
              <a:rPr dirty="0" smtClean="0">
                <a:latin typeface="+mn-lt"/>
              </a:rPr>
              <a:t>and</a:t>
            </a:r>
            <a:endParaRPr lang="en-US" dirty="0">
              <a:latin typeface="+mn-lt"/>
            </a:endParaRPr>
          </a:p>
          <a:p>
            <a:pPr>
              <a:buNone/>
              <a:defRPr sz="1450">
                <a:latin typeface="Arial"/>
              </a:defRPr>
            </a:pPr>
            <a:r>
              <a:rPr dirty="0" smtClean="0">
                <a:latin typeface="+mn-lt"/>
              </a:rPr>
              <a:t>Computer</a:t>
            </a:r>
            <a:r>
              <a:rPr lang="en-US" dirty="0" smtClean="0">
                <a:latin typeface="+mn-lt"/>
              </a:rPr>
              <a:t> </a:t>
            </a:r>
            <a:r>
              <a:rPr dirty="0" smtClean="0">
                <a:latin typeface="+mn-lt"/>
              </a:rPr>
              <a:t>Vision </a:t>
            </a:r>
            <a:r>
              <a:rPr dirty="0">
                <a:latin typeface="+mn-lt"/>
              </a:rPr>
              <a:t>to monitor and analyze traffic conditions in real time. The system can detect and count </a:t>
            </a:r>
            <a:r>
              <a:rPr dirty="0" err="1" smtClean="0">
                <a:latin typeface="+mn-lt"/>
              </a:rPr>
              <a:t>vehiclesfrom</a:t>
            </a:r>
            <a:endParaRPr lang="en-US" dirty="0" smtClean="0">
              <a:latin typeface="+mn-lt"/>
            </a:endParaRPr>
          </a:p>
          <a:p>
            <a:pPr>
              <a:buNone/>
              <a:defRPr sz="1450">
                <a:latin typeface="Arial"/>
              </a:defRPr>
            </a:pPr>
            <a:r>
              <a:rPr dirty="0" smtClean="0">
                <a:latin typeface="+mn-lt"/>
              </a:rPr>
              <a:t>camera </a:t>
            </a:r>
            <a:r>
              <a:rPr dirty="0">
                <a:latin typeface="+mn-lt"/>
              </a:rPr>
              <a:t>footage, estimate traffic density, identify congested areas, and dynamically adjust traffic signal </a:t>
            </a:r>
            <a:r>
              <a:rPr dirty="0" smtClean="0">
                <a:latin typeface="+mn-lt"/>
              </a:rPr>
              <a:t>timings</a:t>
            </a:r>
            <a:endParaRPr lang="en-US" dirty="0" smtClean="0">
              <a:latin typeface="+mn-lt"/>
            </a:endParaRPr>
          </a:p>
          <a:p>
            <a:pPr>
              <a:buNone/>
              <a:defRPr sz="1450">
                <a:latin typeface="Arial"/>
              </a:defRPr>
            </a:pPr>
            <a:r>
              <a:rPr dirty="0" smtClean="0">
                <a:latin typeface="+mn-lt"/>
              </a:rPr>
              <a:t>according </a:t>
            </a:r>
            <a:r>
              <a:rPr dirty="0">
                <a:latin typeface="+mn-lt"/>
              </a:rPr>
              <a:t>to the current traffic situation</a:t>
            </a:r>
            <a:r>
              <a:rPr dirty="0" smtClean="0">
                <a:latin typeface="+mn-lt"/>
              </a:rPr>
              <a:t>.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l">
              <a:lnSpc>
                <a:spcPct val="200000"/>
              </a:lnSpc>
            </a:pPr>
            <a:r>
              <a:rPr sz="2200" b="1">
                <a:solidFill>
                  <a:srgbClr val="1F3F67"/>
                </a:solidFill>
                <a:latin typeface="Arial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>
              <a:buNone/>
              <a:defRPr sz="1700">
                <a:latin typeface="Arial"/>
              </a:defRPr>
            </a:pPr>
            <a:r>
              <a:rPr sz="1800" dirty="0"/>
              <a:t>1. To detect and count vehicles in real time using AI-based computer vision techniques.</a:t>
            </a:r>
          </a:p>
          <a:p>
            <a:pPr>
              <a:buNone/>
              <a:defRPr sz="1700">
                <a:latin typeface="Arial"/>
              </a:defRPr>
            </a:pPr>
            <a:r>
              <a:rPr sz="1800" dirty="0"/>
              <a:t>2. To analyze traffic density at intersections and identify congested traffic lanes.</a:t>
            </a:r>
          </a:p>
          <a:p>
            <a:pPr>
              <a:buNone/>
              <a:defRPr sz="1700">
                <a:latin typeface="Arial"/>
              </a:defRPr>
            </a:pPr>
            <a:r>
              <a:rPr sz="1800" dirty="0"/>
              <a:t>3. To dynamically optimize traffic signal timings based on real-time traffic conditions.</a:t>
            </a:r>
          </a:p>
          <a:p>
            <a:pPr>
              <a:buNone/>
              <a:defRPr sz="1700">
                <a:latin typeface="Arial"/>
              </a:defRPr>
            </a:pPr>
            <a:r>
              <a:rPr sz="1800" dirty="0"/>
              <a:t>4. To reduce vehicle waiting time and traffic congestion by improving the flow of vehicles through intersections.</a:t>
            </a:r>
          </a:p>
          <a:p>
            <a:pPr>
              <a:buNone/>
              <a:defRPr sz="1700">
                <a:latin typeface="Arial"/>
              </a:defRPr>
            </a:pPr>
            <a:r>
              <a:rPr sz="1800" dirty="0"/>
              <a:t>5. To provide traffic insights and alerts that can support efficient urban traffic management and mobility planning.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sz="2200" b="1">
                <a:solidFill>
                  <a:srgbClr val="1F3F67"/>
                </a:solidFill>
                <a:latin typeface="Arial"/>
              </a:rPr>
              <a:t>Literature / Research Understanding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95000"/>
              </a:lnSpc>
              <a:spcBef>
                <a:spcPts val="0"/>
              </a:spcBef>
              <a:spcAft>
                <a:spcPts val="120"/>
              </a:spcAft>
              <a:buSzPct val="100000"/>
              <a:buNone/>
              <a:defRPr sz="1100" b="1">
                <a:solidFill>
                  <a:srgbClr val="1F3F67"/>
                </a:solidFill>
                <a:latin typeface="Arial"/>
              </a:defRPr>
            </a:pPr>
            <a:r>
              <a:rPr lang="en-US" sz="1400" b="1" dirty="0" smtClean="0"/>
              <a:t>      </a:t>
            </a:r>
            <a:r>
              <a:rPr sz="1400" b="1" dirty="0" smtClean="0"/>
              <a:t>1</a:t>
            </a:r>
            <a:r>
              <a:rPr sz="1400" b="1" dirty="0"/>
              <a:t>. AI-Based Adaptive Traffic Signal Control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Recent studies use Reinforcement Learning (RL) and Deep Reinforcement Learning (DRL) to dynamically control traffic signals based on traffic conditions.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DQN/D3QN-based approaches have been used to reduce waiting time and improve traffic efficiency.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100" b="1">
                <a:solidFill>
                  <a:srgbClr val="1F3F67"/>
                </a:solidFill>
                <a:latin typeface="Arial"/>
              </a:defRPr>
            </a:pPr>
            <a:r>
              <a:rPr sz="1400" b="1" dirty="0"/>
              <a:t>2. Computer Vision for Traffic Monitoring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Camera-based systems can provide traffic information such as vehicle count, lane occupancy and traffic density, which can be used as input for intelligent signal control.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Research indicates that ordinary camera-based traffic data can be sufficient for some signal-control applications.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100" b="1">
                <a:solidFill>
                  <a:srgbClr val="1F3F67"/>
                </a:solidFill>
                <a:latin typeface="Arial"/>
              </a:defRPr>
            </a:pPr>
            <a:r>
              <a:rPr sz="1400" b="1" dirty="0"/>
              <a:t>3. Multi-Intersection Traffic Management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Recent research explores DRL and graph-based models for coordinating signals across multiple intersections rather than optimizing only one junction.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100" b="1">
                <a:solidFill>
                  <a:srgbClr val="1F3F67"/>
                </a:solidFill>
                <a:latin typeface="Arial"/>
              </a:defRPr>
            </a:pPr>
            <a:r>
              <a:rPr sz="1400" b="1" dirty="0"/>
              <a:t>4. Existing Real-World Application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Google Green Light uses AI and Google Maps driving trends to recommend optimized traffic-light timings. Google reports that the system is deployed in 100+ cities, including Kolkata, India.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100" b="1">
                <a:solidFill>
                  <a:srgbClr val="1F3F67"/>
                </a:solidFill>
                <a:latin typeface="Arial"/>
              </a:defRPr>
            </a:pPr>
            <a:r>
              <a:rPr sz="1600" b="1" dirty="0"/>
              <a:t>Limitations Identified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Many research systems are evaluated mainly in simulation environments rather than diverse real-world road conditions.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Advanced RL models can require significant training data and computational resources.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Deploying adaptive control across existing intersections can be difficult because of infrastructure and integration costs.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100" b="1">
                <a:solidFill>
                  <a:srgbClr val="1F3F67"/>
                </a:solidFill>
                <a:latin typeface="Arial"/>
              </a:defRPr>
            </a:pPr>
            <a:r>
              <a:rPr sz="1600" b="1" dirty="0"/>
              <a:t>Research Gap</a:t>
            </a:r>
          </a:p>
          <a:p>
            <a:pPr>
              <a:lnSpc>
                <a:spcPct val="95000"/>
              </a:lnSpc>
              <a:spcAft>
                <a:spcPts val="120"/>
              </a:spcAft>
              <a:defRPr sz="1019" b="0">
                <a:solidFill>
                  <a:srgbClr val="000000"/>
                </a:solidFill>
                <a:latin typeface="Arial"/>
              </a:defRPr>
            </a:pPr>
            <a:r>
              <a:rPr sz="1150" dirty="0"/>
              <a:t>There is a need for a practical, low-cost AI-based system that combines real-time camera-based vehicle detection and traffic-density estimation with adaptive signal control, while remaining suitable for implementation in real urban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l">
              <a:lnSpc>
                <a:spcPct val="200000"/>
              </a:lnSpc>
            </a:pPr>
            <a:r>
              <a:rPr sz="2200" b="1">
                <a:solidFill>
                  <a:srgbClr val="1F3F67"/>
                </a:solidFill>
                <a:latin typeface="Arial"/>
              </a:rPr>
              <a:t>Methodology and Architecture</a:t>
            </a:r>
          </a:p>
        </p:txBody>
      </p:sp>
      <p:pic>
        <p:nvPicPr>
          <p:cNvPr id="115" name="Picture 114" descr="WhatsApp Image 2026-08-29 at 11.31.58 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7452360" cy="418795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7973568" y="1234440"/>
            <a:ext cx="3611880" cy="2613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lang="en-US" dirty="0" smtClean="0"/>
              <a:t>              METHODOLOGY</a:t>
            </a:r>
          </a:p>
          <a:p>
            <a:pPr algn="l"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dirty="0" smtClean="0"/>
              <a:t>1</a:t>
            </a:r>
            <a:r>
              <a:rPr dirty="0"/>
              <a:t>. Traffic Data Collection</a:t>
            </a:r>
          </a:p>
          <a:p>
            <a:pPr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dirty="0"/>
              <a:t>2. Vehicle Detection &amp; Counting</a:t>
            </a:r>
          </a:p>
          <a:p>
            <a:pPr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dirty="0"/>
              <a:t>3. Traffic Density Analysis</a:t>
            </a:r>
          </a:p>
          <a:p>
            <a:pPr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dirty="0"/>
              <a:t>4. Intelligent Signal Control</a:t>
            </a:r>
          </a:p>
          <a:p>
            <a:pPr>
              <a:spcAft>
                <a:spcPts val="1700"/>
              </a:spcAft>
              <a:defRPr sz="1550" b="1">
                <a:solidFill>
                  <a:srgbClr val="1F3F67"/>
                </a:solidFill>
                <a:latin typeface="Arial"/>
              </a:defRPr>
            </a:pPr>
            <a:r>
              <a:rPr dirty="0"/>
              <a:t>5. Monitoring &amp; Output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64280" y="5257800"/>
            <a:ext cx="4448599" cy="24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/>
            </a:pPr>
            <a:r>
              <a:rPr sz="1019" b="0" dirty="0">
                <a:solidFill>
                  <a:srgbClr val="000000"/>
                </a:solidFill>
                <a:latin typeface="Arial"/>
              </a:rPr>
              <a:t>Camera/</a:t>
            </a:r>
            <a:r>
              <a:rPr sz="1019" b="0" dirty="0" err="1">
                <a:solidFill>
                  <a:srgbClr val="000000"/>
                </a:solidFill>
                <a:latin typeface="Arial"/>
              </a:rPr>
              <a:t>IoT</a:t>
            </a:r>
            <a:r>
              <a:rPr sz="1019" b="0" dirty="0">
                <a:solidFill>
                  <a:srgbClr val="000000"/>
                </a:solidFill>
                <a:latin typeface="Arial"/>
              </a:rPr>
              <a:t> data → AI analysis → Adaptive signals → Monitoring</a:t>
            </a: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l">
              <a:lnSpc>
                <a:spcPct val="200000"/>
              </a:lnSpc>
            </a:pPr>
            <a:r>
              <a:rPr sz="2200" b="1">
                <a:solidFill>
                  <a:srgbClr val="1F3F67"/>
                </a:solidFill>
                <a:latin typeface="Arial"/>
              </a:rPr>
              <a:t>Implementation Progress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25400" rIns="50800" bIns="25400" anchor="t" anchorCtr="0">
            <a:normAutofit/>
          </a:bodyPr>
          <a:lstStyle/>
          <a:p>
            <a:pPr marL="342900" indent="-190500" algn="just">
              <a:buNone/>
              <a:defRPr sz="1130" b="1">
                <a:solidFill>
                  <a:srgbClr val="1F3F67"/>
                </a:solidFill>
                <a:latin typeface="Arial"/>
              </a:defRPr>
            </a:pPr>
            <a:r>
              <a:rPr sz="1800" b="1" dirty="0"/>
              <a:t>Completed Modules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AI Traffic Management Dashboard &amp; 4-Way Intersection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Vehicle Count &amp; Traffic Density Visualization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Adaptive Traffic Signal Control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Signal Timer &amp; Cycle Management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Emergency Vehicle Priority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Traffic Event Log &amp; Flow Chart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Video Upload &amp; Playback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Controller Configuration Panel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400" b="1" dirty="0"/>
              <a:t>Technologies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HTML5, CSS3, JavaScript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• YOLOv8, Python, </a:t>
            </a:r>
            <a:r>
              <a:rPr sz="1400" b="0" dirty="0" err="1"/>
              <a:t>OpenCV</a:t>
            </a:r>
            <a:r>
              <a:rPr sz="1400" b="0" dirty="0"/>
              <a:t> &amp; Flask – Planned Integration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400" b="1" dirty="0"/>
              <a:t>Testing Status</a:t>
            </a:r>
          </a:p>
          <a:p>
            <a:pPr>
              <a:lnSpc>
                <a:spcPct val="95000"/>
              </a:lnSpc>
              <a:spcAft>
                <a:spcPts val="150"/>
              </a:spcAft>
            </a:pPr>
            <a:r>
              <a:rPr sz="1400" b="0" dirty="0"/>
              <a:t>Dashboard &amp; Lane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l">
              <a:lnSpc>
                <a:spcPct val="200000"/>
              </a:lnSpc>
            </a:pPr>
            <a:r>
              <a:rPr sz="2200" b="1">
                <a:solidFill>
                  <a:srgbClr val="1F3F67"/>
                </a:solidFill>
                <a:latin typeface="Arial"/>
              </a:rPr>
              <a:t>Individual Contribution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buNone/>
              <a:defRPr sz="1300" b="1">
                <a:solidFill>
                  <a:srgbClr val="1F3F67"/>
                </a:solidFill>
                <a:latin typeface="Arial"/>
              </a:defRPr>
            </a:pPr>
            <a:r>
              <a:rPr sz="1400" b="1" dirty="0"/>
              <a:t>Mohammed Zaid – Development &amp; Implementation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Handled front-end and back-end development and core coding.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Worked on system integration and implementation.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Performed debugging, testing, and technical troubleshooting.</a:t>
            </a:r>
          </a:p>
          <a:p>
            <a:pPr>
              <a:buNone/>
              <a:defRPr sz="1300" b="1">
                <a:solidFill>
                  <a:srgbClr val="1F3F67"/>
                </a:solidFill>
                <a:latin typeface="Arial"/>
              </a:defRPr>
            </a:pPr>
            <a:r>
              <a:rPr lang="en-US" sz="1400" b="1" dirty="0" smtClean="0"/>
              <a:t>  </a:t>
            </a:r>
            <a:r>
              <a:rPr sz="1400" b="1" dirty="0" smtClean="0"/>
              <a:t>Syed </a:t>
            </a:r>
            <a:r>
              <a:rPr sz="1400" b="1" dirty="0"/>
              <a:t>Mohammed Rabi – Project Analysis &amp; Presentation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</a:t>
            </a:r>
            <a:r>
              <a:rPr sz="1350" dirty="0" err="1"/>
              <a:t>Analysed</a:t>
            </a:r>
            <a:r>
              <a:rPr sz="1350" dirty="0"/>
              <a:t> project requirements, system workflow, and layout.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Contributed to project planning and technical discussions.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Prepared and organized the PowerPoint presentation.</a:t>
            </a:r>
          </a:p>
          <a:p>
            <a:pPr>
              <a:buNone/>
              <a:defRPr sz="1300" b="1">
                <a:solidFill>
                  <a:srgbClr val="1F3F67"/>
                </a:solidFill>
                <a:latin typeface="Arial"/>
              </a:defRPr>
            </a:pPr>
            <a:r>
              <a:rPr lang="en-US" sz="1400" b="1" dirty="0" smtClean="0"/>
              <a:t>  </a:t>
            </a:r>
            <a:r>
              <a:rPr sz="1400" b="1" dirty="0" smtClean="0"/>
              <a:t>N </a:t>
            </a:r>
            <a:r>
              <a:rPr sz="1400" b="1" dirty="0" err="1"/>
              <a:t>Kushal</a:t>
            </a:r>
            <a:r>
              <a:rPr sz="1400" b="1" dirty="0"/>
              <a:t> – Research &amp; Documentation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Conducted project-related research and technical analysis.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Prepared the research paper draft and documentation.</a:t>
            </a:r>
          </a:p>
          <a:p>
            <a:pPr>
              <a:buNone/>
              <a:defRPr sz="1200" b="0">
                <a:solidFill>
                  <a:srgbClr val="000000"/>
                </a:solidFill>
                <a:latin typeface="Arial"/>
              </a:defRPr>
            </a:pPr>
            <a:r>
              <a:rPr sz="1350" dirty="0"/>
              <a:t>• Collected relevant references and supported project discussions.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l">
              <a:lnSpc>
                <a:spcPct val="200000"/>
              </a:lnSpc>
            </a:pPr>
            <a:r>
              <a:rPr sz="2200" b="1">
                <a:solidFill>
                  <a:srgbClr val="1F3F67"/>
                </a:solidFill>
                <a:latin typeface="Arial"/>
              </a:rPr>
              <a:t>Github Link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20574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F67"/>
                </a:solidFill>
                <a:latin typeface="Arial"/>
              </a:rPr>
              <a:t>GitHub Repository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2834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  <a:hlinkClick r:id="rId3"/>
              </a:rPr>
              <a:t>https://github.com/mdzaidddd2005-tech/AI-Based-Traffic-Management-System.git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200" b="1">
                <a:solidFill>
                  <a:srgbClr val="1F3F67"/>
                </a:solidFill>
                <a:latin typeface="Arial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rtl="0">
              <a:buNone/>
              <a:defRPr sz="1600">
                <a:latin typeface="Arial"/>
              </a:defRPr>
            </a:pPr>
            <a:r>
              <a:rPr sz="1600" dirty="0"/>
              <a:t>• The project proposes an AI-Based Traffic Management System for intelligent and adaptive traffic control.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  <a:defRPr sz="1600">
                <a:latin typeface="Arial"/>
              </a:defRPr>
            </a:pPr>
            <a:r>
              <a:rPr lang="en-US" sz="1600" dirty="0" smtClean="0"/>
              <a:t> </a:t>
            </a:r>
            <a:r>
              <a:rPr sz="1600" dirty="0" smtClean="0"/>
              <a:t>• </a:t>
            </a:r>
            <a:r>
              <a:rPr sz="1600" dirty="0"/>
              <a:t>A functional traffic management dashboard has been developed to monitor a 4-way intersection, vehicle </a:t>
            </a:r>
            <a:r>
              <a:rPr sz="1600" dirty="0" smtClean="0"/>
              <a:t>counts,</a:t>
            </a:r>
            <a:endParaRPr lang="en-US" sz="1600" dirty="0" smtClean="0"/>
          </a:p>
          <a:p>
            <a:pPr>
              <a:buNone/>
              <a:defRPr sz="1600">
                <a:latin typeface="Arial"/>
              </a:defRPr>
            </a:pPr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sz="1600" dirty="0" smtClean="0"/>
              <a:t>lane </a:t>
            </a:r>
            <a:r>
              <a:rPr sz="1600" dirty="0"/>
              <a:t>density, signal status, and traffic flow.</a:t>
            </a:r>
          </a:p>
          <a:p>
            <a:pPr>
              <a:buNone/>
              <a:defRPr sz="1600">
                <a:latin typeface="Arial"/>
              </a:defRPr>
            </a:pPr>
            <a:r>
              <a:rPr lang="en-US" sz="1600" dirty="0" smtClean="0"/>
              <a:t> </a:t>
            </a:r>
            <a:r>
              <a:rPr sz="1600" dirty="0" smtClean="0"/>
              <a:t>• </a:t>
            </a:r>
            <a:r>
              <a:rPr sz="1600" dirty="0"/>
              <a:t>Density-based signal control and emergency priority logic have been implemented in the current prototype.</a:t>
            </a:r>
          </a:p>
          <a:p>
            <a:pPr>
              <a:buNone/>
              <a:defRPr sz="1600">
                <a:latin typeface="Arial"/>
              </a:defRPr>
            </a:pPr>
            <a:r>
              <a:rPr lang="en-US" sz="1600" dirty="0" smtClean="0"/>
              <a:t> </a:t>
            </a:r>
            <a:r>
              <a:rPr sz="1600" dirty="0" smtClean="0"/>
              <a:t>• </a:t>
            </a:r>
            <a:r>
              <a:rPr sz="1600" dirty="0"/>
              <a:t>The system provides a foundation for integrating real-time AI vehicle detection using YOLO and computer vision.</a:t>
            </a:r>
          </a:p>
          <a:p>
            <a:pPr>
              <a:buNone/>
              <a:defRPr sz="1600">
                <a:latin typeface="Arial"/>
              </a:defRPr>
            </a:pPr>
            <a:r>
              <a:rPr lang="en-US" sz="1600" dirty="0" smtClean="0"/>
              <a:t> </a:t>
            </a:r>
            <a:r>
              <a:rPr sz="1600" dirty="0" smtClean="0"/>
              <a:t>• </a:t>
            </a:r>
            <a:r>
              <a:rPr sz="1600" dirty="0"/>
              <a:t>The next phase will focus on connecting actual traffic-video detection with the signal-control module </a:t>
            </a:r>
            <a:r>
              <a:rPr sz="1600" dirty="0" smtClean="0"/>
              <a:t>and</a:t>
            </a:r>
            <a:endParaRPr lang="en-US" sz="1600" dirty="0" smtClean="0"/>
          </a:p>
          <a:p>
            <a:pPr>
              <a:buNone/>
              <a:defRPr sz="1600">
                <a:latin typeface="Arial"/>
              </a:defRPr>
            </a:pPr>
            <a:r>
              <a:rPr lang="en-US" sz="1600" dirty="0"/>
              <a:t> </a:t>
            </a:r>
            <a:r>
              <a:rPr lang="en-US" sz="1600" dirty="0" smtClean="0"/>
              <a:t>   </a:t>
            </a:r>
            <a:r>
              <a:rPr sz="1600" dirty="0" smtClean="0"/>
              <a:t>evaluating </a:t>
            </a:r>
            <a:r>
              <a:rPr sz="1600" dirty="0"/>
              <a:t>the system under realistic traffic conditions.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sz="2200" b="1">
                <a:solidFill>
                  <a:srgbClr val="1F3F67"/>
                </a:solidFill>
                <a:latin typeface="Arial"/>
              </a:rPr>
              <a:t>References (APA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lnSpc>
                <a:spcPct val="90000"/>
              </a:lnSpc>
              <a:spcBef>
                <a:spcPts val="0"/>
              </a:spcBef>
              <a:spcAft>
                <a:spcPts val="229"/>
              </a:spcAft>
              <a:buFont typeface="Wingdings" panose="05000000000000000000" pitchFamily="2" charset="2"/>
              <a:buChar char="Ø"/>
              <a:defRPr sz="1019">
                <a:latin typeface="Arial"/>
              </a:defRPr>
            </a:pPr>
            <a:r>
              <a:rPr sz="1400" dirty="0"/>
              <a:t>1. </a:t>
            </a:r>
            <a:r>
              <a:rPr sz="1400" dirty="0" err="1"/>
              <a:t>Redmon</a:t>
            </a:r>
            <a:r>
              <a:rPr sz="1400" dirty="0"/>
              <a:t>, J., </a:t>
            </a:r>
            <a:r>
              <a:rPr sz="1400" dirty="0" err="1"/>
              <a:t>Divvala</a:t>
            </a:r>
            <a:r>
              <a:rPr sz="1400" dirty="0"/>
              <a:t>, S., </a:t>
            </a:r>
            <a:r>
              <a:rPr sz="1400" dirty="0" err="1"/>
              <a:t>Girshick</a:t>
            </a:r>
            <a:r>
              <a:rPr sz="1400" dirty="0"/>
              <a:t>, R., &amp; </a:t>
            </a:r>
            <a:r>
              <a:rPr sz="1400" dirty="0" err="1"/>
              <a:t>Farhadi</a:t>
            </a:r>
            <a:r>
              <a:rPr sz="1400" dirty="0"/>
              <a:t>, A. (2016). You only look once: Unified, real-time object detection. CVPR, 779–788.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2. </a:t>
            </a:r>
            <a:r>
              <a:rPr sz="1400" dirty="0" err="1"/>
              <a:t>Jocher</a:t>
            </a:r>
            <a:r>
              <a:rPr sz="1400" dirty="0"/>
              <a:t>, G., </a:t>
            </a:r>
            <a:r>
              <a:rPr sz="1400" dirty="0" err="1"/>
              <a:t>Chaurasia</a:t>
            </a:r>
            <a:r>
              <a:rPr sz="1400" dirty="0"/>
              <a:t>, A., &amp; </a:t>
            </a:r>
            <a:r>
              <a:rPr sz="1400" dirty="0" err="1"/>
              <a:t>Qiu</a:t>
            </a:r>
            <a:r>
              <a:rPr sz="1400" dirty="0"/>
              <a:t>, J. (2023). </a:t>
            </a:r>
            <a:r>
              <a:rPr sz="1400" dirty="0" err="1"/>
              <a:t>Ultralytics</a:t>
            </a:r>
            <a:r>
              <a:rPr sz="1400" dirty="0"/>
              <a:t> YOLOv8. </a:t>
            </a:r>
            <a:r>
              <a:rPr sz="1400" dirty="0" err="1"/>
              <a:t>Ultralytics</a:t>
            </a:r>
            <a:r>
              <a:rPr sz="1400" dirty="0"/>
              <a:t>. https://docs.ultralytics.com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3. Lin, T.-Y., et al. (2014). Microsoft COCO: Common objects in context. ECCV.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4. </a:t>
            </a:r>
            <a:r>
              <a:rPr sz="1400" dirty="0" err="1"/>
              <a:t>Bradski</a:t>
            </a:r>
            <a:r>
              <a:rPr sz="1400" dirty="0"/>
              <a:t>, G. (2000). The </a:t>
            </a:r>
            <a:r>
              <a:rPr sz="1400" dirty="0" err="1"/>
              <a:t>OpenCV</a:t>
            </a:r>
            <a:r>
              <a:rPr sz="1400" dirty="0"/>
              <a:t> library. Dr. Dobb’s Journal of Software Tools.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5. </a:t>
            </a:r>
            <a:r>
              <a:rPr sz="1400" dirty="0" err="1"/>
              <a:t>López</a:t>
            </a:r>
            <a:r>
              <a:rPr sz="1400" dirty="0"/>
              <a:t>, P. A., et al. (2018). Microscopic traffic simulation using SUMO. IEEE ITSC, 2575–2582.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6. Hunt, P. B., Robertson, D. I., Bretherton, R. D., &amp; Winton, R. I. (1982). The SCOOT on-line traffic signal </a:t>
            </a:r>
            <a:r>
              <a:rPr sz="1400" dirty="0" err="1"/>
              <a:t>optimisation</a:t>
            </a:r>
            <a:r>
              <a:rPr sz="1400" dirty="0"/>
              <a:t> technique. Traffic Engineering &amp; Control, 23, 190–192.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7. </a:t>
            </a:r>
            <a:r>
              <a:rPr sz="1400" dirty="0" err="1"/>
              <a:t>Wiering</a:t>
            </a:r>
            <a:r>
              <a:rPr sz="1400" dirty="0"/>
              <a:t>, M. (2000). Multi-agent reinforcement learning for traffic light control. ICML, 1151–1158.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8. Genders, W., &amp; </a:t>
            </a:r>
            <a:r>
              <a:rPr sz="1400" dirty="0" err="1"/>
              <a:t>Razavi</a:t>
            </a:r>
            <a:r>
              <a:rPr sz="1400" dirty="0"/>
              <a:t>, S. (2016). Using a deep reinforcement learning agent for traffic signal control. arXiv:1611.01142.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9. Wei, H., Zheng, G., Yao, H., &amp; Li, Z. (2018). </a:t>
            </a:r>
            <a:r>
              <a:rPr sz="1400" dirty="0" err="1"/>
              <a:t>IntelliLight</a:t>
            </a:r>
            <a:r>
              <a:rPr sz="1400" dirty="0"/>
              <a:t>: A reinforcement learning approach for intelligent traffic light control. ACM SIGKDD, 2496–2505.</a:t>
            </a:r>
          </a:p>
          <a:p>
            <a:pPr>
              <a:lnSpc>
                <a:spcPct val="90000"/>
              </a:lnSpc>
              <a:spcAft>
                <a:spcPts val="229"/>
              </a:spcAft>
              <a:defRPr sz="1019">
                <a:latin typeface="Arial"/>
              </a:defRPr>
            </a:pPr>
            <a:r>
              <a:rPr sz="1400" dirty="0"/>
              <a:t>10. </a:t>
            </a:r>
            <a:r>
              <a:rPr sz="1400" dirty="0" err="1"/>
              <a:t>Bazzan</a:t>
            </a:r>
            <a:r>
              <a:rPr sz="1400" dirty="0"/>
              <a:t>, A. L. C., &amp; </a:t>
            </a:r>
            <a:r>
              <a:rPr sz="1400" dirty="0" err="1"/>
              <a:t>Klügl</a:t>
            </a:r>
            <a:r>
              <a:rPr sz="1400" dirty="0"/>
              <a:t>, F. (2014). A review on agent-based technology for traffic and transportation. The Knowledge Engineering Review, 29(3), 375–403.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elements/1.1/"/>
    <ds:schemaRef ds:uri="ed62f681-7444-4666-891e-c71d42de2ddf"/>
    <ds:schemaRef ds:uri="b8676f30-e579-463a-a8aa-821338b00374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1241</Words>
  <Application>Microsoft Office PowerPoint</Application>
  <PresentationFormat>Widescreen</PresentationFormat>
  <Paragraphs>131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Display</vt:lpstr>
      <vt:lpstr>Arial</vt:lpstr>
      <vt:lpstr>Bookman Old Style</vt:lpstr>
      <vt:lpstr>Cambria</vt:lpstr>
      <vt:lpstr>Verdana</vt:lpstr>
      <vt:lpstr>Wingdings</vt:lpstr>
      <vt:lpstr>Bioinformatics</vt:lpstr>
      <vt:lpstr>PowerPoint Presentation</vt:lpstr>
      <vt:lpstr>AI-POWERED TRAFFIC MANAGEMENT SYSTEM</vt:lpstr>
      <vt:lpstr>INDEX</vt:lpstr>
      <vt:lpstr>Problem Statement – AI-Based Traffic Management System</vt:lpstr>
      <vt:lpstr>Objectives</vt:lpstr>
      <vt:lpstr>Literature / Research Understanding</vt:lpstr>
      <vt:lpstr>Methodology and Architecture</vt:lpstr>
      <vt:lpstr>Implementation Progress</vt:lpstr>
      <vt:lpstr>Individual Contribution</vt:lpstr>
      <vt:lpstr>Github Link</vt:lpstr>
      <vt:lpstr>Conclusion</vt:lpstr>
      <vt:lpstr>References (APA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49</cp:revision>
  <dcterms:modified xsi:type="dcterms:W3CDTF">2026-09-25T22:06:40Z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